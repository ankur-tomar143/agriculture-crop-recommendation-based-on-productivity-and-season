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 id="262" r:id="rId7"/>
    <p:sldId id="264" r:id="rId8"/>
    <p:sldId id="265" r:id="rId9"/>
    <p:sldId id="266" r:id="rId10"/>
    <p:sldId id="263" r:id="rId11"/>
    <p:sldId id="267"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3794" y="855407"/>
            <a:ext cx="8232058" cy="1724127"/>
          </a:xfrm>
        </p:spPr>
        <p:txBody>
          <a:bodyPr>
            <a:normAutofit fontScale="90000"/>
          </a:bodyPr>
          <a:lstStyle/>
          <a:p>
            <a:r>
              <a:rPr lang="en-US" dirty="0">
                <a:solidFill>
                  <a:srgbClr val="FF0000"/>
                </a:solidFill>
              </a:rPr>
              <a:t>Random Forest-Driven </a:t>
            </a:r>
            <a:r>
              <a:rPr dirty="0">
                <a:solidFill>
                  <a:srgbClr val="FF0000"/>
                </a:solidFill>
              </a:rPr>
              <a:t> Crop Recommendation</a:t>
            </a:r>
            <a:r>
              <a:rPr lang="en-US" dirty="0">
                <a:solidFill>
                  <a:srgbClr val="FF0000"/>
                </a:solidFill>
              </a:rPr>
              <a:t> System</a:t>
            </a:r>
            <a:r>
              <a:rPr dirty="0">
                <a:solidFill>
                  <a:srgbClr val="FF0000"/>
                </a:solidFill>
              </a:rPr>
              <a:t> Based On Season</a:t>
            </a:r>
            <a:r>
              <a:rPr lang="en-US" dirty="0">
                <a:solidFill>
                  <a:srgbClr val="FF0000"/>
                </a:solidFill>
              </a:rPr>
              <a:t>al Patterns and Productivity</a:t>
            </a:r>
            <a:endParaRPr dirty="0">
              <a:solidFill>
                <a:srgbClr val="FF0000"/>
              </a:solidFill>
            </a:endParaRPr>
          </a:p>
        </p:txBody>
      </p:sp>
      <p:sp>
        <p:nvSpPr>
          <p:cNvPr id="3" name="Subtitle 2"/>
          <p:cNvSpPr>
            <a:spLocks noGrp="1"/>
          </p:cNvSpPr>
          <p:nvPr>
            <p:ph type="subTitle" idx="1"/>
          </p:nvPr>
        </p:nvSpPr>
        <p:spPr>
          <a:xfrm>
            <a:off x="619433" y="3298722"/>
            <a:ext cx="8232058" cy="1069258"/>
          </a:xfrm>
        </p:spPr>
        <p:txBody>
          <a:bodyPr>
            <a:noAutofit/>
          </a:bodyPr>
          <a:lstStyle/>
          <a:p>
            <a:pPr algn="l"/>
            <a:r>
              <a:rPr lang="en-US" sz="2800" b="1" dirty="0">
                <a:solidFill>
                  <a:schemeClr val="tx1"/>
                </a:solidFill>
              </a:rPr>
              <a:t>Student name      - </a:t>
            </a:r>
            <a:r>
              <a:rPr sz="2800" b="1" dirty="0">
                <a:solidFill>
                  <a:schemeClr val="tx1"/>
                </a:solidFill>
              </a:rPr>
              <a:t>Ankur Tomar</a:t>
            </a:r>
            <a:r>
              <a:rPr lang="en-US" sz="2800" b="1" dirty="0">
                <a:solidFill>
                  <a:schemeClr val="tx1"/>
                </a:solidFill>
              </a:rPr>
              <a:t>, CSE, MIET, Meerut</a:t>
            </a:r>
          </a:p>
          <a:p>
            <a:pPr algn="l"/>
            <a:r>
              <a:rPr lang="en-US" sz="2800" b="1" dirty="0">
                <a:solidFill>
                  <a:schemeClr val="tx1"/>
                </a:solidFill>
              </a:rPr>
              <a:t>Supervisor name - Dr. </a:t>
            </a:r>
            <a:r>
              <a:rPr sz="2800" b="1" dirty="0">
                <a:solidFill>
                  <a:schemeClr val="tx1"/>
                </a:solidFill>
              </a:rPr>
              <a:t>Subhajit Ghosh</a:t>
            </a:r>
            <a:r>
              <a:rPr lang="en-US" sz="2800" b="1" dirty="0">
                <a:solidFill>
                  <a:schemeClr val="tx1"/>
                </a:solidFill>
              </a:rPr>
              <a:t> , MIET, Meerut</a:t>
            </a:r>
            <a:endParaRPr sz="2800" b="1"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23304" y="952731"/>
            <a:ext cx="1956619" cy="531607"/>
          </a:xfrm>
        </p:spPr>
        <p:txBody>
          <a:bodyPr>
            <a:noAutofit/>
          </a:bodyPr>
          <a:lstStyle/>
          <a:p>
            <a:r>
              <a:rPr sz="3200" b="1" dirty="0">
                <a:solidFill>
                  <a:srgbClr val="FF0000"/>
                </a:solidFill>
              </a:rPr>
              <a:t>Abstract</a:t>
            </a:r>
          </a:p>
        </p:txBody>
      </p:sp>
      <p:sp>
        <p:nvSpPr>
          <p:cNvPr id="3" name="Content Placeholder 2"/>
          <p:cNvSpPr>
            <a:spLocks noGrp="1"/>
          </p:cNvSpPr>
          <p:nvPr>
            <p:ph idx="1"/>
          </p:nvPr>
        </p:nvSpPr>
        <p:spPr>
          <a:xfrm>
            <a:off x="353961" y="1805115"/>
            <a:ext cx="8436078" cy="3868098"/>
          </a:xfrm>
        </p:spPr>
        <p:txBody>
          <a:bodyPr>
            <a:noAutofit/>
          </a:bodyPr>
          <a:lstStyle/>
          <a:p>
            <a:pPr algn="just"/>
            <a:r>
              <a:rPr lang="en-US" sz="2500" dirty="0"/>
              <a:t>The crop recommendation model was trained using a well-arranged dataset that included important farming and environmental details like </a:t>
            </a:r>
            <a:r>
              <a:rPr lang="en-IN" sz="2500" dirty="0"/>
              <a:t>Nitrogen (N), Phosphorus (P), Potassium (K)</a:t>
            </a:r>
            <a:r>
              <a:rPr lang="en-US" sz="2500" dirty="0"/>
              <a:t>, temperature, humidity, rainfall, and soil ph. </a:t>
            </a:r>
          </a:p>
          <a:p>
            <a:pPr algn="just"/>
            <a:r>
              <a:rPr lang="en-US" sz="2500" dirty="0"/>
              <a:t>The system suggests the most suitable crops for Meerut farmers by studying past soil, weather, and crop data with the help of machine learning models such as Random Forest. This helps farmers increase crop production, lower risks, and earn more income with less hard work.</a:t>
            </a:r>
            <a:endParaRPr sz="2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31574" y="1164124"/>
            <a:ext cx="2561303" cy="541439"/>
          </a:xfrm>
        </p:spPr>
        <p:txBody>
          <a:bodyPr>
            <a:normAutofit fontScale="90000"/>
          </a:bodyPr>
          <a:lstStyle/>
          <a:p>
            <a:r>
              <a:rPr sz="3600" b="1" dirty="0">
                <a:solidFill>
                  <a:srgbClr val="FF0000"/>
                </a:solidFill>
              </a:rPr>
              <a:t>Introduction</a:t>
            </a:r>
            <a:endParaRPr sz="2500" b="1" dirty="0">
              <a:solidFill>
                <a:srgbClr val="FF0000"/>
              </a:solidFill>
            </a:endParaRPr>
          </a:p>
        </p:txBody>
      </p:sp>
      <p:sp>
        <p:nvSpPr>
          <p:cNvPr id="3" name="Content Placeholder 2"/>
          <p:cNvSpPr>
            <a:spLocks noGrp="1"/>
          </p:cNvSpPr>
          <p:nvPr>
            <p:ph idx="1"/>
          </p:nvPr>
        </p:nvSpPr>
        <p:spPr>
          <a:xfrm>
            <a:off x="457199" y="1991699"/>
            <a:ext cx="8509819" cy="3455372"/>
          </a:xfrm>
        </p:spPr>
        <p:txBody>
          <a:bodyPr>
            <a:noAutofit/>
          </a:bodyPr>
          <a:lstStyle/>
          <a:p>
            <a:pPr algn="just"/>
            <a:r>
              <a:rPr lang="en-US" sz="2500" dirty="0"/>
              <a:t>Farming is very important in India, especially in Meerut where the main crops are wheat, rice, maize, sugarcane, and pulses. The choice of crop depends on soil, rainfall, temperature, and season (Kharif, Rabi, Zaid). </a:t>
            </a:r>
          </a:p>
          <a:p>
            <a:pPr algn="just"/>
            <a:r>
              <a:rPr lang="en-US" sz="2500" dirty="0"/>
              <a:t>Old traditional methods are not working well now because of climate change and high costs. That is why farmers need smart systems to help them choose the right crops</a:t>
            </a:r>
            <a:endParaRPr sz="2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1464" y="274638"/>
            <a:ext cx="3161071" cy="666801"/>
          </a:xfrm>
        </p:spPr>
        <p:txBody>
          <a:bodyPr>
            <a:normAutofit/>
          </a:bodyPr>
          <a:lstStyle/>
          <a:p>
            <a:r>
              <a:rPr sz="3200" b="1" dirty="0">
                <a:solidFill>
                  <a:srgbClr val="FF0000"/>
                </a:solidFill>
              </a:rPr>
              <a:t>Literature Review</a:t>
            </a:r>
          </a:p>
        </p:txBody>
      </p:sp>
      <p:sp>
        <p:nvSpPr>
          <p:cNvPr id="3" name="Content Placeholder 2"/>
          <p:cNvSpPr>
            <a:spLocks noGrp="1"/>
          </p:cNvSpPr>
          <p:nvPr>
            <p:ph idx="1"/>
          </p:nvPr>
        </p:nvSpPr>
        <p:spPr>
          <a:xfrm>
            <a:off x="196645" y="919317"/>
            <a:ext cx="8819535" cy="5775788"/>
          </a:xfrm>
        </p:spPr>
        <p:txBody>
          <a:bodyPr>
            <a:noAutofit/>
          </a:bodyPr>
          <a:lstStyle/>
          <a:p>
            <a:pPr marL="0" indent="0" algn="just">
              <a:buNone/>
            </a:pPr>
            <a:r>
              <a:rPr lang="en-US" sz="2300" dirty="0"/>
              <a:t>Earlier crop recommendation systems used information about soil, weather, and crop production.</a:t>
            </a:r>
          </a:p>
          <a:p>
            <a:pPr marL="0" indent="0" algn="just">
              <a:buNone/>
            </a:pPr>
            <a:endParaRPr lang="en-US" sz="2300" dirty="0"/>
          </a:p>
          <a:p>
            <a:pPr algn="just"/>
            <a:r>
              <a:rPr lang="en-US" sz="2300" b="1" dirty="0"/>
              <a:t>Decision Trees:</a:t>
            </a:r>
            <a:r>
              <a:rPr lang="en-US" sz="2300" dirty="0"/>
              <a:t> Easy to use but often make mistakes when data changes.</a:t>
            </a:r>
          </a:p>
          <a:p>
            <a:pPr algn="just"/>
            <a:r>
              <a:rPr lang="en-US" sz="2300" b="1" dirty="0"/>
              <a:t>SVM (Support Vector Machine):</a:t>
            </a:r>
            <a:r>
              <a:rPr lang="en-US" sz="2300" dirty="0"/>
              <a:t> Can handle complex data but gets disturbed by noisy or wrong data.</a:t>
            </a:r>
          </a:p>
          <a:p>
            <a:pPr algn="just"/>
            <a:r>
              <a:rPr lang="en-US" sz="2300" b="1" dirty="0"/>
              <a:t>ANN (Artificial Neural Network):</a:t>
            </a:r>
            <a:r>
              <a:rPr lang="en-US" sz="2300" dirty="0"/>
              <a:t> Can find hidden complex patterns but is difficult to understand.</a:t>
            </a:r>
          </a:p>
          <a:p>
            <a:pPr algn="just"/>
            <a:r>
              <a:rPr lang="en-US" sz="2300" b="1" dirty="0"/>
              <a:t>KNN (K-Nearest Neighbors):</a:t>
            </a:r>
            <a:r>
              <a:rPr lang="en-US" sz="2300" dirty="0"/>
              <a:t> Works well with small datasets but does not perform well if data has noise.</a:t>
            </a:r>
          </a:p>
          <a:p>
            <a:pPr algn="just"/>
            <a:endParaRPr lang="en-US" sz="2300" dirty="0"/>
          </a:p>
          <a:p>
            <a:pPr marL="0" indent="0" algn="just">
              <a:buNone/>
            </a:pPr>
            <a:r>
              <a:rPr lang="en-US" sz="2300" dirty="0"/>
              <a:t>Problems with these systems include missing data, lack of clarity in how results are given, less user-friendliness, and not being flexible for different conditions.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5832" y="224812"/>
            <a:ext cx="4252452" cy="600433"/>
          </a:xfrm>
        </p:spPr>
        <p:txBody>
          <a:bodyPr>
            <a:normAutofit/>
          </a:bodyPr>
          <a:lstStyle/>
          <a:p>
            <a:r>
              <a:rPr sz="3200" b="1" dirty="0">
                <a:solidFill>
                  <a:srgbClr val="FF0000"/>
                </a:solidFill>
              </a:rPr>
              <a:t>Proposed Methodology</a:t>
            </a:r>
          </a:p>
        </p:txBody>
      </p:sp>
      <p:sp>
        <p:nvSpPr>
          <p:cNvPr id="3" name="Content Placeholder 2"/>
          <p:cNvSpPr>
            <a:spLocks noGrp="1"/>
          </p:cNvSpPr>
          <p:nvPr>
            <p:ph idx="1"/>
          </p:nvPr>
        </p:nvSpPr>
        <p:spPr>
          <a:xfrm>
            <a:off x="373626" y="918188"/>
            <a:ext cx="8313174" cy="5715000"/>
          </a:xfrm>
        </p:spPr>
        <p:txBody>
          <a:bodyPr>
            <a:noAutofit/>
          </a:bodyPr>
          <a:lstStyle/>
          <a:p>
            <a:pPr marL="0" indent="0">
              <a:buNone/>
            </a:pPr>
            <a:r>
              <a:rPr lang="en-US" sz="2300" b="1" dirty="0"/>
              <a:t>System parts:</a:t>
            </a:r>
            <a:endParaRPr lang="en-US" sz="2300" dirty="0"/>
          </a:p>
          <a:p>
            <a:pPr algn="just"/>
            <a:r>
              <a:rPr lang="en-US" sz="2300" b="1" dirty="0"/>
              <a:t>Data Collection:</a:t>
            </a:r>
            <a:r>
              <a:rPr lang="en-US" sz="2300" dirty="0"/>
              <a:t> Collect information about soil, crop production, and climate.</a:t>
            </a:r>
          </a:p>
          <a:p>
            <a:pPr algn="just"/>
            <a:r>
              <a:rPr lang="en-US" sz="2300" b="1" dirty="0"/>
              <a:t>Preprocessing:</a:t>
            </a:r>
            <a:r>
              <a:rPr lang="en-US" sz="2300" dirty="0"/>
              <a:t> Clean the data and make it uniform so it can be used easily.</a:t>
            </a:r>
          </a:p>
          <a:p>
            <a:pPr algn="just"/>
            <a:r>
              <a:rPr lang="en-US" sz="2300" b="1" dirty="0"/>
              <a:t>Feature Extraction:</a:t>
            </a:r>
            <a:r>
              <a:rPr lang="en-US" sz="2300" dirty="0"/>
              <a:t> Pick the most important inputs like Nitrogen (N), Phosphorus (P), Potassium (K), soil pH, rainfall, and temperature.</a:t>
            </a:r>
          </a:p>
          <a:p>
            <a:pPr algn="just"/>
            <a:r>
              <a:rPr lang="en-US" sz="2300" b="1" dirty="0"/>
              <a:t>Prediction:</a:t>
            </a:r>
            <a:r>
              <a:rPr lang="en-US" sz="2300" dirty="0"/>
              <a:t> Use the Random Forest model to suggest the best crops.</a:t>
            </a:r>
          </a:p>
          <a:p>
            <a:pPr algn="just"/>
            <a:r>
              <a:rPr lang="en-US" sz="2300" b="1" dirty="0"/>
              <a:t>User Interface:</a:t>
            </a:r>
            <a:r>
              <a:rPr lang="en-US" sz="2300" dirty="0"/>
              <a:t> A simple app or website in the local language that is easy for farmers to use.</a:t>
            </a:r>
          </a:p>
          <a:p>
            <a:pPr algn="just"/>
            <a:r>
              <a:rPr lang="en-US" sz="2300" b="1" dirty="0"/>
              <a:t>Output:</a:t>
            </a:r>
            <a:r>
              <a:rPr lang="en-US" sz="2300" dirty="0"/>
              <a:t> The system shows an input screen for data entry, a recommendation screen with the best crop suggestion, and detailed insights with time-based checking.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0697" y="274638"/>
            <a:ext cx="4380271" cy="561104"/>
          </a:xfrm>
        </p:spPr>
        <p:txBody>
          <a:bodyPr>
            <a:noAutofit/>
          </a:bodyPr>
          <a:lstStyle/>
          <a:p>
            <a:r>
              <a:rPr sz="3200" b="1" dirty="0">
                <a:solidFill>
                  <a:srgbClr val="FF0000"/>
                </a:solidFill>
              </a:rPr>
              <a:t>Experimental </a:t>
            </a:r>
            <a:r>
              <a:rPr sz="3600" b="1" dirty="0">
                <a:solidFill>
                  <a:srgbClr val="FF0000"/>
                </a:solidFill>
              </a:rPr>
              <a:t>Results</a:t>
            </a:r>
            <a:endParaRPr sz="3200" b="1" dirty="0">
              <a:solidFill>
                <a:srgbClr val="FF0000"/>
              </a:solidFill>
            </a:endParaRPr>
          </a:p>
        </p:txBody>
      </p:sp>
      <p:sp>
        <p:nvSpPr>
          <p:cNvPr id="3" name="Content Placeholder 2"/>
          <p:cNvSpPr>
            <a:spLocks noGrp="1"/>
          </p:cNvSpPr>
          <p:nvPr>
            <p:ph idx="1"/>
          </p:nvPr>
        </p:nvSpPr>
        <p:spPr>
          <a:xfrm>
            <a:off x="290051" y="1069259"/>
            <a:ext cx="8519652" cy="5606844"/>
          </a:xfrm>
        </p:spPr>
        <p:txBody>
          <a:bodyPr>
            <a:noAutofit/>
          </a:bodyPr>
          <a:lstStyle/>
          <a:p>
            <a:pPr algn="just"/>
            <a:r>
              <a:rPr lang="en-US" sz="2500" b="1" dirty="0"/>
              <a:t>Dataset:</a:t>
            </a:r>
            <a:r>
              <a:rPr lang="en-US" sz="2500" dirty="0"/>
              <a:t> The dataset was collected from the MIT Agricultural Research Department and contains 2200 records from the Meerut region. It was divided into two parts: 80% for training (1760 records) and 20% for testing (440 records). Techniques like stratified sampling and 5-fold cross-validation were used to make the testing fair and balanced.</a:t>
            </a:r>
          </a:p>
          <a:p>
            <a:pPr algn="just"/>
            <a:r>
              <a:rPr lang="en-US" sz="2500" b="1" dirty="0"/>
              <a:t>Performance:</a:t>
            </a:r>
            <a:r>
              <a:rPr lang="en-US" sz="2500" dirty="0"/>
              <a:t> The Decision Tree model gave an accuracy of 85.2% with an F1 score of 0.85. The Random Forest model performed better with an accuracy of 93.6% and an F1 score of 0.935.</a:t>
            </a:r>
          </a:p>
          <a:p>
            <a:pPr algn="just"/>
            <a:r>
              <a:rPr lang="en-US" sz="2500" b="1" dirty="0"/>
              <a:t>Insights:</a:t>
            </a:r>
            <a:r>
              <a:rPr lang="en-US" sz="2500" dirty="0"/>
              <a:t> Random Forest worked better than Decision Tree, made fewer mistakes, and was especially reliable for crops like rice, maize, and sugarcane.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8736" y="471283"/>
            <a:ext cx="3352800" cy="561104"/>
          </a:xfrm>
        </p:spPr>
        <p:txBody>
          <a:bodyPr>
            <a:noAutofit/>
          </a:bodyPr>
          <a:lstStyle/>
          <a:p>
            <a:r>
              <a:rPr lang="en-US" sz="3200" b="1" dirty="0">
                <a:solidFill>
                  <a:srgbClr val="FF0000"/>
                </a:solidFill>
              </a:rPr>
              <a:t>Sample Dataset</a:t>
            </a:r>
            <a:endParaRPr sz="3200" b="1" dirty="0">
              <a:solidFill>
                <a:srgbClr val="FF0000"/>
              </a:solidFill>
            </a:endParaRPr>
          </a:p>
        </p:txBody>
      </p:sp>
      <p:pic>
        <p:nvPicPr>
          <p:cNvPr id="6" name="Picture 5">
            <a:extLst>
              <a:ext uri="{FF2B5EF4-FFF2-40B4-BE49-F238E27FC236}">
                <a16:creationId xmlns:a16="http://schemas.microsoft.com/office/drawing/2014/main" id="{BDAFEDA0-86FE-4D59-AE25-8127BE513C50}"/>
              </a:ext>
            </a:extLst>
          </p:cNvPr>
          <p:cNvPicPr/>
          <p:nvPr/>
        </p:nvPicPr>
        <p:blipFill>
          <a:blip r:embed="rId2"/>
          <a:stretch>
            <a:fillRect/>
          </a:stretch>
        </p:blipFill>
        <p:spPr>
          <a:xfrm>
            <a:off x="974725" y="1335589"/>
            <a:ext cx="6625610" cy="4662088"/>
          </a:xfrm>
          <a:prstGeom prst="rect">
            <a:avLst/>
          </a:prstGeom>
        </p:spPr>
      </p:pic>
    </p:spTree>
    <p:extLst>
      <p:ext uri="{BB962C8B-B14F-4D97-AF65-F5344CB8AC3E}">
        <p14:creationId xmlns:p14="http://schemas.microsoft.com/office/powerpoint/2010/main" val="369119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782" y="327325"/>
            <a:ext cx="7924800" cy="1178441"/>
          </a:xfrm>
        </p:spPr>
        <p:txBody>
          <a:bodyPr>
            <a:noAutofit/>
          </a:bodyPr>
          <a:lstStyle/>
          <a:p>
            <a:r>
              <a:rPr lang="x-none" sz="3200" b="1" spc="-5" dirty="0">
                <a:solidFill>
                  <a:srgbClr val="FF0000"/>
                </a:solidFill>
                <a:effectLst/>
                <a:latin typeface="+mn-lt"/>
                <a:ea typeface="SimSun" panose="02010600030101010101" pitchFamily="2" charset="-122"/>
                <a:cs typeface="Times New Roman" panose="02020603050405020304" pitchFamily="18" charset="0"/>
              </a:rPr>
              <a:t>Confusion Matrix for the Random Forest Model (Excerpt)</a:t>
            </a:r>
            <a:br>
              <a:rPr lang="en-IN" sz="3200" b="1" spc="-5" dirty="0">
                <a:solidFill>
                  <a:srgbClr val="FF0000"/>
                </a:solidFill>
                <a:effectLst/>
                <a:latin typeface="+mn-lt"/>
                <a:ea typeface="SimSun" panose="02010600030101010101" pitchFamily="2" charset="-122"/>
              </a:rPr>
            </a:br>
            <a:endParaRPr sz="3200" b="1" dirty="0">
              <a:solidFill>
                <a:srgbClr val="FF0000"/>
              </a:solidFill>
              <a:latin typeface="+mn-lt"/>
            </a:endParaRPr>
          </a:p>
        </p:txBody>
      </p:sp>
      <p:graphicFrame>
        <p:nvGraphicFramePr>
          <p:cNvPr id="6" name="Table 5">
            <a:extLst>
              <a:ext uri="{FF2B5EF4-FFF2-40B4-BE49-F238E27FC236}">
                <a16:creationId xmlns:a16="http://schemas.microsoft.com/office/drawing/2014/main" id="{1F188D52-2CB1-438B-8A89-96CA40992227}"/>
              </a:ext>
            </a:extLst>
          </p:cNvPr>
          <p:cNvGraphicFramePr>
            <a:graphicFrameLocks noGrp="1"/>
          </p:cNvGraphicFramePr>
          <p:nvPr>
            <p:extLst>
              <p:ext uri="{D42A27DB-BD31-4B8C-83A1-F6EECF244321}">
                <p14:modId xmlns:p14="http://schemas.microsoft.com/office/powerpoint/2010/main" val="2962615262"/>
              </p:ext>
            </p:extLst>
          </p:nvPr>
        </p:nvGraphicFramePr>
        <p:xfrm>
          <a:off x="1578077" y="1384680"/>
          <a:ext cx="5732209" cy="5195156"/>
        </p:xfrm>
        <a:graphic>
          <a:graphicData uri="http://schemas.openxmlformats.org/drawingml/2006/table">
            <a:tbl>
              <a:tblPr firstRow="1" firstCol="1" bandRow="1">
                <a:tableStyleId>{5C22544A-7EE6-4342-B048-85BDC9FD1C3A}</a:tableStyleId>
              </a:tblPr>
              <a:tblGrid>
                <a:gridCol w="1326017">
                  <a:extLst>
                    <a:ext uri="{9D8B030D-6E8A-4147-A177-3AD203B41FA5}">
                      <a16:colId xmlns:a16="http://schemas.microsoft.com/office/drawing/2014/main" val="2350773471"/>
                    </a:ext>
                  </a:extLst>
                </a:gridCol>
                <a:gridCol w="519887">
                  <a:extLst>
                    <a:ext uri="{9D8B030D-6E8A-4147-A177-3AD203B41FA5}">
                      <a16:colId xmlns:a16="http://schemas.microsoft.com/office/drawing/2014/main" val="4001455438"/>
                    </a:ext>
                  </a:extLst>
                </a:gridCol>
                <a:gridCol w="1017755">
                  <a:extLst>
                    <a:ext uri="{9D8B030D-6E8A-4147-A177-3AD203B41FA5}">
                      <a16:colId xmlns:a16="http://schemas.microsoft.com/office/drawing/2014/main" val="3882817733"/>
                    </a:ext>
                  </a:extLst>
                </a:gridCol>
                <a:gridCol w="862399">
                  <a:extLst>
                    <a:ext uri="{9D8B030D-6E8A-4147-A177-3AD203B41FA5}">
                      <a16:colId xmlns:a16="http://schemas.microsoft.com/office/drawing/2014/main" val="3448324610"/>
                    </a:ext>
                  </a:extLst>
                </a:gridCol>
                <a:gridCol w="805038">
                  <a:extLst>
                    <a:ext uri="{9D8B030D-6E8A-4147-A177-3AD203B41FA5}">
                      <a16:colId xmlns:a16="http://schemas.microsoft.com/office/drawing/2014/main" val="1448951764"/>
                    </a:ext>
                  </a:extLst>
                </a:gridCol>
                <a:gridCol w="1201113">
                  <a:extLst>
                    <a:ext uri="{9D8B030D-6E8A-4147-A177-3AD203B41FA5}">
                      <a16:colId xmlns:a16="http://schemas.microsoft.com/office/drawing/2014/main" val="656032569"/>
                    </a:ext>
                  </a:extLst>
                </a:gridCol>
              </a:tblGrid>
              <a:tr h="739824">
                <a:tc>
                  <a:txBody>
                    <a:bodyPr/>
                    <a:lstStyle/>
                    <a:p>
                      <a:pPr algn="l"/>
                      <a:endParaRPr lang="en-IN" sz="2000">
                        <a:effectLst/>
                        <a:latin typeface="Times New Roman" panose="02020603050405020304" pitchFamily="18" charset="0"/>
                      </a:endParaRPr>
                    </a:p>
                  </a:txBody>
                  <a:tcPr marL="9525" marR="9525" marT="9525" marB="9525" anchor="ctr"/>
                </a:tc>
                <a:tc>
                  <a:txBody>
                    <a:bodyPr/>
                    <a:lstStyle/>
                    <a:p>
                      <a:pPr marL="0" marR="0" algn="just">
                        <a:lnSpc>
                          <a:spcPct val="150000"/>
                        </a:lnSpc>
                        <a:spcBef>
                          <a:spcPts val="0"/>
                        </a:spcBef>
                        <a:spcAft>
                          <a:spcPts val="0"/>
                        </a:spcAft>
                      </a:pPr>
                      <a:r>
                        <a:rPr lang="en-IN" sz="2000">
                          <a:effectLst/>
                        </a:rPr>
                        <a:t>Rice</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Wheat</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Cotton</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Maize</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Sugarcane</a:t>
                      </a:r>
                      <a:endParaRPr lang="en-IN" sz="2000">
                        <a:effectLst/>
                        <a:latin typeface="Times New Roman" panose="02020603050405020304" pitchFamily="18" charset="0"/>
                        <a:ea typeface="SimSun" panose="02010600030101010101" pitchFamily="2" charset="-122"/>
                      </a:endParaRPr>
                    </a:p>
                  </a:txBody>
                  <a:tcPr marL="9525" marR="9525" marT="9525" marB="9525" anchor="ctr"/>
                </a:tc>
                <a:extLst>
                  <a:ext uri="{0D108BD9-81ED-4DB2-BD59-A6C34878D82A}">
                    <a16:rowId xmlns:a16="http://schemas.microsoft.com/office/drawing/2014/main" val="3325820333"/>
                  </a:ext>
                </a:extLst>
              </a:tr>
              <a:tr h="825144">
                <a:tc>
                  <a:txBody>
                    <a:bodyPr/>
                    <a:lstStyle/>
                    <a:p>
                      <a:pPr marL="0" marR="0" algn="just">
                        <a:lnSpc>
                          <a:spcPct val="150000"/>
                        </a:lnSpc>
                        <a:spcBef>
                          <a:spcPts val="0"/>
                        </a:spcBef>
                        <a:spcAft>
                          <a:spcPts val="0"/>
                        </a:spcAft>
                      </a:pPr>
                      <a:r>
                        <a:rPr lang="en-IN" sz="2000">
                          <a:effectLst/>
                        </a:rPr>
                        <a:t>Predicted: Rice</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90</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dirty="0">
                          <a:effectLst/>
                        </a:rPr>
                        <a:t>2</a:t>
                      </a:r>
                      <a:endParaRPr lang="en-IN" sz="2000" dirty="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1</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1</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0</a:t>
                      </a:r>
                      <a:endParaRPr lang="en-IN" sz="2000">
                        <a:effectLst/>
                        <a:latin typeface="Times New Roman" panose="02020603050405020304" pitchFamily="18" charset="0"/>
                        <a:ea typeface="SimSun" panose="02010600030101010101" pitchFamily="2" charset="-122"/>
                      </a:endParaRPr>
                    </a:p>
                  </a:txBody>
                  <a:tcPr marL="9525" marR="9525" marT="9525" marB="9525" anchor="ctr"/>
                </a:tc>
                <a:extLst>
                  <a:ext uri="{0D108BD9-81ED-4DB2-BD59-A6C34878D82A}">
                    <a16:rowId xmlns:a16="http://schemas.microsoft.com/office/drawing/2014/main" val="2380402878"/>
                  </a:ext>
                </a:extLst>
              </a:tr>
              <a:tr h="825144">
                <a:tc>
                  <a:txBody>
                    <a:bodyPr/>
                    <a:lstStyle/>
                    <a:p>
                      <a:pPr marL="0" marR="0" algn="just">
                        <a:lnSpc>
                          <a:spcPct val="150000"/>
                        </a:lnSpc>
                        <a:spcBef>
                          <a:spcPts val="0"/>
                        </a:spcBef>
                        <a:spcAft>
                          <a:spcPts val="0"/>
                        </a:spcAft>
                      </a:pPr>
                      <a:r>
                        <a:rPr lang="en-IN" sz="2000">
                          <a:effectLst/>
                        </a:rPr>
                        <a:t>Predicted: Wheat</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1</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85</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3</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0</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1</a:t>
                      </a:r>
                      <a:endParaRPr lang="en-IN" sz="2000">
                        <a:effectLst/>
                        <a:latin typeface="Times New Roman" panose="02020603050405020304" pitchFamily="18" charset="0"/>
                        <a:ea typeface="SimSun" panose="02010600030101010101" pitchFamily="2" charset="-122"/>
                      </a:endParaRPr>
                    </a:p>
                  </a:txBody>
                  <a:tcPr marL="9525" marR="9525" marT="9525" marB="9525" anchor="ctr"/>
                </a:tc>
                <a:extLst>
                  <a:ext uri="{0D108BD9-81ED-4DB2-BD59-A6C34878D82A}">
                    <a16:rowId xmlns:a16="http://schemas.microsoft.com/office/drawing/2014/main" val="1893404379"/>
                  </a:ext>
                </a:extLst>
              </a:tr>
              <a:tr h="825144">
                <a:tc>
                  <a:txBody>
                    <a:bodyPr/>
                    <a:lstStyle/>
                    <a:p>
                      <a:pPr marL="0" marR="0" algn="just">
                        <a:lnSpc>
                          <a:spcPct val="150000"/>
                        </a:lnSpc>
                        <a:spcBef>
                          <a:spcPts val="0"/>
                        </a:spcBef>
                        <a:spcAft>
                          <a:spcPts val="0"/>
                        </a:spcAft>
                      </a:pPr>
                      <a:r>
                        <a:rPr lang="en-IN" sz="2000">
                          <a:effectLst/>
                        </a:rPr>
                        <a:t>Predicted: Cotton</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0</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1</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88</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1</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0</a:t>
                      </a:r>
                      <a:endParaRPr lang="en-IN" sz="2000">
                        <a:effectLst/>
                        <a:latin typeface="Times New Roman" panose="02020603050405020304" pitchFamily="18" charset="0"/>
                        <a:ea typeface="SimSun" panose="02010600030101010101" pitchFamily="2" charset="-122"/>
                      </a:endParaRPr>
                    </a:p>
                  </a:txBody>
                  <a:tcPr marL="9525" marR="9525" marT="9525" marB="9525" anchor="ctr"/>
                </a:tc>
                <a:extLst>
                  <a:ext uri="{0D108BD9-81ED-4DB2-BD59-A6C34878D82A}">
                    <a16:rowId xmlns:a16="http://schemas.microsoft.com/office/drawing/2014/main" val="2138878017"/>
                  </a:ext>
                </a:extLst>
              </a:tr>
              <a:tr h="825144">
                <a:tc>
                  <a:txBody>
                    <a:bodyPr/>
                    <a:lstStyle/>
                    <a:p>
                      <a:pPr marL="0" marR="0" algn="just">
                        <a:lnSpc>
                          <a:spcPct val="150000"/>
                        </a:lnSpc>
                        <a:spcBef>
                          <a:spcPts val="0"/>
                        </a:spcBef>
                        <a:spcAft>
                          <a:spcPts val="0"/>
                        </a:spcAft>
                      </a:pPr>
                      <a:r>
                        <a:rPr lang="en-IN" sz="2000">
                          <a:effectLst/>
                        </a:rPr>
                        <a:t>Predicted: Maize</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0</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0</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2</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89</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0</a:t>
                      </a:r>
                      <a:endParaRPr lang="en-IN" sz="2000">
                        <a:effectLst/>
                        <a:latin typeface="Times New Roman" panose="02020603050405020304" pitchFamily="18" charset="0"/>
                        <a:ea typeface="SimSun" panose="02010600030101010101" pitchFamily="2" charset="-122"/>
                      </a:endParaRPr>
                    </a:p>
                  </a:txBody>
                  <a:tcPr marL="9525" marR="9525" marT="9525" marB="9525" anchor="ctr"/>
                </a:tc>
                <a:extLst>
                  <a:ext uri="{0D108BD9-81ED-4DB2-BD59-A6C34878D82A}">
                    <a16:rowId xmlns:a16="http://schemas.microsoft.com/office/drawing/2014/main" val="2213669854"/>
                  </a:ext>
                </a:extLst>
              </a:tr>
              <a:tr h="917112">
                <a:tc>
                  <a:txBody>
                    <a:bodyPr/>
                    <a:lstStyle/>
                    <a:p>
                      <a:pPr marL="0" marR="0" algn="just">
                        <a:lnSpc>
                          <a:spcPct val="150000"/>
                        </a:lnSpc>
                        <a:spcBef>
                          <a:spcPts val="0"/>
                        </a:spcBef>
                        <a:spcAft>
                          <a:spcPts val="0"/>
                        </a:spcAft>
                      </a:pPr>
                      <a:r>
                        <a:rPr lang="en-IN" sz="2000" dirty="0">
                          <a:effectLst/>
                        </a:rPr>
                        <a:t>Predicted: Sugarcane</a:t>
                      </a:r>
                      <a:endParaRPr lang="en-IN" sz="2000" dirty="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0</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2</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1</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a:effectLst/>
                        </a:rPr>
                        <a:t>0</a:t>
                      </a:r>
                      <a:endParaRPr lang="en-IN"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just">
                        <a:lnSpc>
                          <a:spcPct val="150000"/>
                        </a:lnSpc>
                        <a:spcBef>
                          <a:spcPts val="0"/>
                        </a:spcBef>
                        <a:spcAft>
                          <a:spcPts val="0"/>
                        </a:spcAft>
                      </a:pPr>
                      <a:r>
                        <a:rPr lang="en-IN" sz="2000" dirty="0">
                          <a:effectLst/>
                        </a:rPr>
                        <a:t>90</a:t>
                      </a:r>
                      <a:endParaRPr lang="en-IN" sz="2000" dirty="0">
                        <a:effectLst/>
                        <a:latin typeface="Times New Roman" panose="02020603050405020304" pitchFamily="18" charset="0"/>
                        <a:ea typeface="SimSun" panose="02010600030101010101" pitchFamily="2" charset="-122"/>
                      </a:endParaRPr>
                    </a:p>
                  </a:txBody>
                  <a:tcPr marL="9525" marR="9525" marT="9525" marB="9525" anchor="ctr"/>
                </a:tc>
                <a:extLst>
                  <a:ext uri="{0D108BD9-81ED-4DB2-BD59-A6C34878D82A}">
                    <a16:rowId xmlns:a16="http://schemas.microsoft.com/office/drawing/2014/main" val="3579703914"/>
                  </a:ext>
                </a:extLst>
              </a:tr>
            </a:tbl>
          </a:graphicData>
        </a:graphic>
      </p:graphicFrame>
    </p:spTree>
    <p:extLst>
      <p:ext uri="{BB962C8B-B14F-4D97-AF65-F5344CB8AC3E}">
        <p14:creationId xmlns:p14="http://schemas.microsoft.com/office/powerpoint/2010/main" val="2439626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99B1A7E-6F5B-415D-9EA6-70A9F8A46DFB}"/>
              </a:ext>
            </a:extLst>
          </p:cNvPr>
          <p:cNvSpPr txBox="1"/>
          <p:nvPr/>
        </p:nvSpPr>
        <p:spPr>
          <a:xfrm>
            <a:off x="926690" y="864466"/>
            <a:ext cx="7290619" cy="794064"/>
          </a:xfrm>
          <a:prstGeom prst="rect">
            <a:avLst/>
          </a:prstGeom>
          <a:noFill/>
        </p:spPr>
        <p:txBody>
          <a:bodyPr wrap="square">
            <a:spAutoFit/>
          </a:bodyPr>
          <a:lstStyle/>
          <a:p>
            <a:pPr marL="0" marR="0" indent="0" algn="ctr">
              <a:lnSpc>
                <a:spcPct val="95000"/>
              </a:lnSpc>
              <a:spcBef>
                <a:spcPts val="0"/>
              </a:spcBef>
              <a:spcAft>
                <a:spcPts val="600"/>
              </a:spcAft>
              <a:tabLst>
                <a:tab pos="182880" algn="l"/>
              </a:tabLst>
            </a:pPr>
            <a:r>
              <a:rPr lang="x-none" sz="2400" b="1" spc="-5" dirty="0">
                <a:solidFill>
                  <a:srgbClr val="FF0000"/>
                </a:solidFill>
                <a:effectLst/>
                <a:latin typeface="+mj-lt"/>
                <a:ea typeface="SimSun" panose="02010600030101010101" pitchFamily="2" charset="-122"/>
                <a:cs typeface="Times New Roman" panose="02020603050405020304" pitchFamily="18" charset="0"/>
              </a:rPr>
              <a:t>Bar Chart Comparing Accuracy of Decision Tree vs. Random Forest</a:t>
            </a:r>
            <a:endParaRPr lang="en-IN" sz="2400" spc="-5" dirty="0">
              <a:solidFill>
                <a:srgbClr val="FF0000"/>
              </a:solidFill>
              <a:effectLst/>
              <a:latin typeface="+mj-lt"/>
              <a:ea typeface="SimSun" panose="02010600030101010101" pitchFamily="2" charset="-122"/>
            </a:endParaRPr>
          </a:p>
        </p:txBody>
      </p:sp>
      <p:pic>
        <p:nvPicPr>
          <p:cNvPr id="6" name="Picture 5">
            <a:extLst>
              <a:ext uri="{FF2B5EF4-FFF2-40B4-BE49-F238E27FC236}">
                <a16:creationId xmlns:a16="http://schemas.microsoft.com/office/drawing/2014/main" id="{1E98C9D2-CBED-4692-B9F3-D97B8E9126BB}"/>
              </a:ext>
            </a:extLst>
          </p:cNvPr>
          <p:cNvPicPr/>
          <p:nvPr/>
        </p:nvPicPr>
        <p:blipFill>
          <a:blip r:embed="rId2"/>
          <a:stretch>
            <a:fillRect/>
          </a:stretch>
        </p:blipFill>
        <p:spPr>
          <a:xfrm>
            <a:off x="1497269" y="1804065"/>
            <a:ext cx="5876924" cy="4449251"/>
          </a:xfrm>
          <a:prstGeom prst="rect">
            <a:avLst/>
          </a:prstGeom>
        </p:spPr>
      </p:pic>
    </p:spTree>
    <p:extLst>
      <p:ext uri="{BB962C8B-B14F-4D97-AF65-F5344CB8AC3E}">
        <p14:creationId xmlns:p14="http://schemas.microsoft.com/office/powerpoint/2010/main" val="1644460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93807" y="914067"/>
            <a:ext cx="2251587" cy="511943"/>
          </a:xfrm>
        </p:spPr>
        <p:txBody>
          <a:bodyPr>
            <a:noAutofit/>
          </a:bodyPr>
          <a:lstStyle/>
          <a:p>
            <a:r>
              <a:rPr sz="3200" b="1" dirty="0">
                <a:solidFill>
                  <a:srgbClr val="FF0000"/>
                </a:solidFill>
              </a:rPr>
              <a:t>Conclusion</a:t>
            </a:r>
          </a:p>
        </p:txBody>
      </p:sp>
      <p:sp>
        <p:nvSpPr>
          <p:cNvPr id="3" name="Content Placeholder 2"/>
          <p:cNvSpPr>
            <a:spLocks noGrp="1"/>
          </p:cNvSpPr>
          <p:nvPr>
            <p:ph idx="1"/>
          </p:nvPr>
        </p:nvSpPr>
        <p:spPr>
          <a:xfrm>
            <a:off x="535858" y="1688690"/>
            <a:ext cx="8229600" cy="3866535"/>
          </a:xfrm>
        </p:spPr>
        <p:txBody>
          <a:bodyPr>
            <a:noAutofit/>
          </a:bodyPr>
          <a:lstStyle/>
          <a:p>
            <a:pPr algn="just"/>
            <a:r>
              <a:rPr lang="en-US" sz="2400" dirty="0"/>
              <a:t>The Random Forest-based system predicts the best crops with very high accuracy (93.6%). </a:t>
            </a:r>
          </a:p>
          <a:p>
            <a:pPr algn="just"/>
            <a:r>
              <a:rPr lang="en-US" sz="2400" dirty="0"/>
              <a:t>It supports farmers in Meerut to grow better crops, earn more income, and follow sustainable farming practices.</a:t>
            </a:r>
          </a:p>
          <a:p>
            <a:pPr algn="just"/>
            <a:r>
              <a:rPr lang="en-US" sz="2400" b="1" dirty="0"/>
              <a:t>Future Scope:</a:t>
            </a:r>
            <a:r>
              <a:rPr lang="en-US" sz="2400" dirty="0"/>
              <a:t> In the future, more crops can be added, real-time weather updates can be included, and an offline mobile app can be developed. The system can also be linked with government schemes and made available in local languages for farmers’ easy use.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081EDED-51A2-43D5-85F1-4C6214794901}"/>
              </a:ext>
            </a:extLst>
          </p:cNvPr>
          <p:cNvSpPr txBox="1"/>
          <p:nvPr/>
        </p:nvSpPr>
        <p:spPr>
          <a:xfrm>
            <a:off x="435077" y="665477"/>
            <a:ext cx="8273846" cy="5986254"/>
          </a:xfrm>
          <a:prstGeom prst="rect">
            <a:avLst/>
          </a:prstGeom>
          <a:noFill/>
        </p:spPr>
        <p:txBody>
          <a:bodyPr wrap="square">
            <a:spAutoFit/>
          </a:bodyPr>
          <a:lstStyle/>
          <a:p>
            <a:pPr algn="ctr"/>
            <a:r>
              <a:rPr lang="en-IN" sz="3200" b="1" dirty="0">
                <a:solidFill>
                  <a:srgbClr val="FF0000"/>
                </a:solidFill>
              </a:rPr>
              <a:t>REFERENCES</a:t>
            </a:r>
          </a:p>
          <a:p>
            <a:endParaRPr lang="en-IN" sz="1500" dirty="0"/>
          </a:p>
          <a:p>
            <a:pPr algn="just"/>
            <a:r>
              <a:rPr lang="en-IN" sz="1600" dirty="0"/>
              <a:t>[1]	A. Kumar, S. Sarkar, and C. Pradhan, “Recommendation System for Crop Identification and Pest Control Technique in Agriculture,” in *Proc. 2019 Int. Conf. </a:t>
            </a:r>
            <a:r>
              <a:rPr lang="en-IN" sz="1600" dirty="0" err="1"/>
              <a:t>Commun</a:t>
            </a:r>
            <a:r>
              <a:rPr lang="en-IN" sz="1600" dirty="0"/>
              <a:t>. Signal Process. (ICCSP)*, Chennai, India,Apr.2019,pp.0802–0806, https://doi.org/10.1109/ICCSP.2019.8698099 </a:t>
            </a:r>
          </a:p>
          <a:p>
            <a:pPr algn="just"/>
            <a:endParaRPr lang="en-IN" sz="1600" dirty="0"/>
          </a:p>
          <a:p>
            <a:pPr algn="just"/>
            <a:r>
              <a:rPr lang="en-IN" sz="1600" dirty="0"/>
              <a:t>[2]	A. V. Senthil Kumar, A. M. Aparna, A. Dutta, U. N. </a:t>
            </a:r>
            <a:r>
              <a:rPr lang="en-IN" sz="1600" dirty="0" err="1"/>
              <a:t>Dulhare</a:t>
            </a:r>
            <a:r>
              <a:rPr lang="en-IN" sz="1600" dirty="0"/>
              <a:t>, *et al.*, “Agricultural Crop Recommendations Based on Productivity and Season,” in *Advanced Computational Methods for Agri-Business Sustainability*, IGI Global, Jun. 2024, </a:t>
            </a:r>
            <a:r>
              <a:rPr lang="en-IN" sz="1600" dirty="0" err="1"/>
              <a:t>ch.</a:t>
            </a:r>
            <a:r>
              <a:rPr lang="en-IN" sz="1600" dirty="0"/>
              <a:t> 4, http://dx.doi.org/10.4018/979-8-3693-3583-3.ch004 </a:t>
            </a:r>
          </a:p>
          <a:p>
            <a:pPr algn="just"/>
            <a:endParaRPr lang="en-IN" sz="1600" dirty="0"/>
          </a:p>
          <a:p>
            <a:pPr algn="just"/>
            <a:r>
              <a:rPr lang="en-IN" sz="1600" dirty="0"/>
              <a:t>[3]	Choudhury, A. S., &amp; Mallick, S. (2019). "A machine learning approach for crop yield prediction and recommendation." Agricultural Systems, 171, 90-99. https://doi.org/10.1016/j.agsy.2019.01.001 </a:t>
            </a:r>
          </a:p>
          <a:p>
            <a:pPr algn="just"/>
            <a:endParaRPr lang="en-IN" sz="1600" dirty="0"/>
          </a:p>
          <a:p>
            <a:pPr algn="just"/>
            <a:r>
              <a:rPr lang="en-IN" sz="1600" dirty="0"/>
              <a:t>[4]	D. Balakrishnan, A. P. Kumar, K. S. K. Reddy, R. R. Kumar, K. </a:t>
            </a:r>
            <a:r>
              <a:rPr lang="en-IN" sz="1600" dirty="0" err="1"/>
              <a:t>Aadith</a:t>
            </a:r>
            <a:r>
              <a:rPr lang="en-IN" sz="1600" dirty="0"/>
              <a:t>, and S. Madhan, “Agricultural Crop Recommendation System,” in *Proc. 2023 3rd Int. Conf. Intelligent Technologies (CONIT)*, Hubli, India,Jun.2023,pp.1–6. https://doi.org/10.1109/CONIT59222.2023.10205756 </a:t>
            </a:r>
          </a:p>
          <a:p>
            <a:pPr algn="just"/>
            <a:endParaRPr lang="en-IN" sz="1600" dirty="0"/>
          </a:p>
          <a:p>
            <a:pPr algn="just"/>
            <a:r>
              <a:rPr lang="en-IN" sz="1600" dirty="0"/>
              <a:t>[5]	FBM Sagar and NK. Cauvery, "Agriculture Data Analytics in Crop Yield Estimation: A Critical Review", Indonesian Journal of Electrical Engineering and Computer Science, vol. 12, no. 3, pp. 1087-93, Dec 2018.https://ijeecs.iaescore.com/</a:t>
            </a:r>
            <a:r>
              <a:rPr lang="en-IN" sz="1600" dirty="0" err="1"/>
              <a:t>index.php</a:t>
            </a:r>
            <a:r>
              <a:rPr lang="en-IN" sz="1600" dirty="0"/>
              <a:t>/IJEECS/article/view/13056 http://doi.org/10.1016/j.compag.2021.106131 </a:t>
            </a:r>
          </a:p>
        </p:txBody>
      </p:sp>
    </p:spTree>
    <p:extLst>
      <p:ext uri="{BB962C8B-B14F-4D97-AF65-F5344CB8AC3E}">
        <p14:creationId xmlns:p14="http://schemas.microsoft.com/office/powerpoint/2010/main" val="9532400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133</TotalTime>
  <Words>1082</Words>
  <Application>Microsoft Office PowerPoint</Application>
  <PresentationFormat>On-screen Show (4:3)</PresentationFormat>
  <Paragraphs>83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Random Forest-Driven  Crop Recommendation System Based On Seasonal Patterns and Productivity</vt:lpstr>
      <vt:lpstr>Abstract</vt:lpstr>
      <vt:lpstr>Introduction</vt:lpstr>
      <vt:lpstr>Literature Review</vt:lpstr>
      <vt:lpstr>Proposed Methodology</vt:lpstr>
      <vt:lpstr>Experimental Results</vt:lpstr>
      <vt:lpstr>Sample Dataset</vt:lpstr>
      <vt:lpstr>Confusion Matrix for the Random Forest Model (Excerpt) </vt:lpstr>
      <vt:lpstr>PowerPoint Presentation</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Agriculture Crop Recommendation Based On Productivity And Seasons</dc:title>
  <dc:subject/>
  <dc:creator/>
  <cp:keywords/>
  <dc:description>generated using python-pptx</dc:description>
  <cp:lastModifiedBy>ANKUR Tomar</cp:lastModifiedBy>
  <cp:revision>14</cp:revision>
  <dcterms:created xsi:type="dcterms:W3CDTF">2013-01-27T09:14:16Z</dcterms:created>
  <dcterms:modified xsi:type="dcterms:W3CDTF">2025-08-19T05:15:34Z</dcterms:modified>
  <cp:category/>
</cp:coreProperties>
</file>